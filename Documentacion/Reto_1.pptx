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0" r:id="rId5"/>
    <p:sldId id="320" r:id="rId6"/>
    <p:sldId id="312" r:id="rId7"/>
    <p:sldId id="322" r:id="rId8"/>
    <p:sldId id="315" r:id="rId9"/>
    <p:sldId id="327" r:id="rId10"/>
    <p:sldId id="319" r:id="rId11"/>
    <p:sldId id="321" r:id="rId12"/>
    <p:sldId id="317" r:id="rId13"/>
    <p:sldId id="329" r:id="rId14"/>
    <p:sldId id="324" r:id="rId15"/>
    <p:sldId id="298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544"/>
    <a:srgbClr val="FFFFFF"/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7F8380-37FC-C687-705A-0B317A066EEB}" v="4" dt="2026-02-19T10:20:41.087"/>
    <p1510:client id="{CB02A725-C845-4078-BE0B-8A9F932EF9B4}" v="1589" dt="2026-02-19T10:36:21.560"/>
    <p1510:client id="{E89A71B4-4AB5-7C10-492C-1AA8D0BA0684}" v="748" dt="2026-02-19T10:10:41.703"/>
  </p1510:revLst>
</p1510:revInfo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281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347C1C4-E474-4240-93E7-DFB7421C2C11}" type="datetime1">
              <a:rPr lang="es-ES" smtClean="0"/>
              <a:t>19/02/2026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D56CFAD-C154-4C9C-AD01-665A5055065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424FCACF-6754-467E-9E88-CC384D668E81}" type="datetime1">
              <a:rPr lang="es-ES" smtClean="0"/>
              <a:t>19/02/2026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5B62BC0-7DC4-4569-951D-2BB9475345C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3736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64AA-8ED7-43E3-7034-47C1B772B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4133A0-9DCE-2C4A-B113-13EAAD91C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C663BB-8020-0D2E-6299-F9340037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6D5C53-1AFA-29DB-6412-F2732F7BD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0655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Hemos diseñado un sistema dividido en 4 contenedores: un Sensor, un </a:t>
            </a:r>
            <a:r>
              <a:rPr lang="es-ES" dirty="0" err="1"/>
              <a:t>Broker</a:t>
            </a:r>
            <a:r>
              <a:rPr lang="es-ES" dirty="0"/>
              <a:t> MQTT, un Consumidor y una Base de Datos.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19636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2926D-676E-B44C-53DD-333425A99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034AB3-B2FD-5182-C13F-191CAC074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758342-CF9E-A81B-593F-C00A0D58F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60661D-DAE2-69D8-7924-DCC266773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79609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CC9F-E5CD-CB5F-7282-14D2D25C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29EF6B-E069-7213-235C-8E6B87E12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3FA418-22C8-98DC-9AFC-6BA20201F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9FD05A-6A27-F9E6-A6D8-9544D0430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9942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CC9F-E5CD-CB5F-7282-14D2D25C3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29EF6B-E069-7213-235C-8E6B87E12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43FA418-22C8-98DC-9AFC-6BA20201F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9FD05A-6A27-F9E6-A6D8-9544D0430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9942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6D83-4F6B-ADC9-8702-EE357CDF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69E845-2039-B7B6-D802-35A262178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3B7D54-0E5A-1414-4619-9DC7233E9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Aquí se puede observar como se generan los datos del sensor por medio de la librería </a:t>
            </a:r>
            <a:r>
              <a:rPr lang="es-ES" dirty="0" err="1"/>
              <a:t>numpy</a:t>
            </a:r>
            <a:r>
              <a:rPr lang="es-ES" dirty="0"/>
              <a:t> para mediante la media, sacar valores más realistas. Además, dichos valores se recogen en un </a:t>
            </a:r>
            <a:r>
              <a:rPr lang="es-ES" dirty="0" err="1"/>
              <a:t>json</a:t>
            </a:r>
            <a:r>
              <a:rPr lang="es-ES" dirty="0"/>
              <a:t> y son enviados o publicados por medio del .</a:t>
            </a:r>
            <a:r>
              <a:rPr lang="es-ES" dirty="0" err="1"/>
              <a:t>publish</a:t>
            </a:r>
            <a:r>
              <a:rPr lang="es-ES" dirty="0"/>
              <a:t>, junto con su </a:t>
            </a:r>
            <a:r>
              <a:rPr lang="es-ES" dirty="0" err="1"/>
              <a:t>topic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AD2CF4-A75F-EE0F-67AF-691946921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85061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33A7-0741-7016-F005-BE737C59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84B35B-E629-0A7A-A6E3-BAEA7130F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16E8A4-465A-0824-9F72-1BADC1BF3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Se observa como la función </a:t>
            </a:r>
            <a:r>
              <a:rPr lang="es-ES" dirty="0" err="1"/>
              <a:t>al_recibir_mensaje</a:t>
            </a:r>
            <a:r>
              <a:rPr lang="es-ES" dirty="0"/>
              <a:t>, recibe los datos del bróker MQTT, los vuelve un diccionario de datos y mediante el </a:t>
            </a:r>
            <a:r>
              <a:rPr lang="es-ES" dirty="0" err="1"/>
              <a:t>guardar_lectura</a:t>
            </a:r>
            <a:r>
              <a:rPr lang="es-ES" dirty="0"/>
              <a:t> los almacena en la base de datos </a:t>
            </a:r>
            <a:r>
              <a:rPr lang="es-ES" dirty="0" err="1"/>
              <a:t>Postgre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53EBFF-D721-9D43-5F10-092231369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61433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2E2D-23B2-3EE3-8396-EADA8216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7FF028-5F0E-87B0-93F4-81BFE34F8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3E5FF67-0BE4-47C2-D22A-573B4FFEE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Docker nos permite levantar todo el entorno con un solo comando, asegurando que el </a:t>
            </a:r>
            <a:r>
              <a:rPr lang="es-ES" dirty="0" err="1"/>
              <a:t>broker</a:t>
            </a:r>
            <a:r>
              <a:rPr lang="es-ES" dirty="0"/>
              <a:t> y la base de datos estén listos antes de que los scripts de Python empiecen a trabajar. </a:t>
            </a:r>
            <a:br>
              <a:rPr lang="es-ES" dirty="0"/>
            </a:br>
            <a:r>
              <a:rPr lang="es-ES" dirty="0"/>
              <a:t>Dicha base de datos usa 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volumen persistente para que los datos del sensor no se borren si el contenedor se detiene.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Construimos el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sensor_tierra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 la lógica de nuestra carpeta productor.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cerebro_datos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</a:t>
            </a:r>
            <a:r>
              <a:rPr lang="es-ES" dirty="0"/>
              <a:t>s el consumidor que procesa la información, le definimos su host, el </a:t>
            </a:r>
            <a:r>
              <a:rPr lang="es-ES" dirty="0" err="1"/>
              <a:t>topic</a:t>
            </a:r>
            <a:r>
              <a:rPr lang="es-ES" dirty="0"/>
              <a:t> al que se suscribe, y recibe las credenciales para conectarse tanto al </a:t>
            </a:r>
            <a:r>
              <a:rPr lang="es-ES" dirty="0" err="1"/>
              <a:t>Broker</a:t>
            </a:r>
            <a:r>
              <a:rPr lang="es-ES" dirty="0"/>
              <a:t> como a la Base de Datos.</a:t>
            </a:r>
            <a:endParaRPr lang="es-E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016648-1D63-6C4C-7C00-1C7408116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28093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4C1C-46FF-85E3-2542-5E89C69C5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4BC3FC-C8C4-DC73-9D78-EE9811B18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180C01-BD03-33AB-0E60-22EE0AC42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59416B-F2B7-6464-E694-92717D056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24662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89578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rtlCol="0" anchor="ctr"/>
          <a:lstStyle>
            <a:lvl1pPr algn="ctr">
              <a:defRPr lang="es-ES" sz="5400" b="1" cap="all" spc="1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rtlCol="0"/>
          <a:lstStyle>
            <a:lvl1pPr marL="0" indent="0" algn="ctr">
              <a:buNone/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es-ES">
                <a:noFill/>
              </a:defRPr>
            </a:lvl1pPr>
          </a:lstStyle>
          <a:p>
            <a:pPr lvl="0" rtl="0"/>
            <a:r>
              <a:rPr lang="es-ES"/>
              <a:t>En blanco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rtlCol="0" anchor="ctr"/>
          <a:lstStyle>
            <a:lvl1pPr algn="ctr">
              <a:defRPr lang="es-ES" sz="5400" b="1" cap="all" spc="100" baseline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15" name="Marcador de fech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rtlCol="0"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s-ES"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5" name="Marcador de fech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/>
              <a:t>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produ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rtlCol="0" anchor="b"/>
          <a:lstStyle>
            <a:lvl1pPr algn="ctr">
              <a:defRPr lang="es-ES"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 rtlCol="0"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lang="es-ES"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lang="es-ES"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lang="es-ES"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lang="es-ES"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lang="es-ES" sz="12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es-ES"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0" name="Marcador de fecha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41" name="Marcador de pie de página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osot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es-ES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/>
              <a:t>título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una foto</a:t>
            </a:r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z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es-ES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2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lang="es-ES"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lang="es-ES"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lang="es-ES"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lang="es-ES"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estra compet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rtlCol="0" anchor="ctr"/>
          <a:lstStyle>
            <a:lvl1pPr algn="ctr">
              <a:defRPr lang="es-ES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posición de imagen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 rtlCol="0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rtlCol="0" anchor="b"/>
          <a:lstStyle>
            <a:lvl1pPr algn="ctr">
              <a:defRPr lang="es-ES" sz="2400" cap="all" spc="1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0" name="Marcador de contenido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s-ES" sz="1400" cap="all" baseline="0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38" name="Marcador de texto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1" name="Marcador de posición de imagen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/>
              <a:t>Haga clic para agregar foto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chemeClr val="bg1"/>
            </a:solidFill>
          </a:ln>
        </p:spPr>
        <p:txBody>
          <a:bodyPr lIns="914400" tIns="91440" rIns="914400" bIns="45720" rtlCol="0" anchor="ctr"/>
          <a:lstStyle>
            <a:defPPr>
              <a:defRPr lang="es-ES"/>
            </a:defPPr>
          </a:lstStyle>
          <a:p>
            <a:pPr rtl="0"/>
            <a:r>
              <a:rPr lang="es-ES">
                <a:solidFill>
                  <a:schemeClr val="bg1"/>
                </a:solidFill>
              </a:rPr>
              <a:t>RETO DE CAPTACIÓN</a:t>
            </a:r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DB9B2E9B-7523-769B-A498-26423ABBAB9D}"/>
              </a:ext>
            </a:extLst>
          </p:cNvPr>
          <p:cNvSpPr txBox="1">
            <a:spLocks/>
          </p:cNvSpPr>
          <p:nvPr/>
        </p:nvSpPr>
        <p:spPr>
          <a:xfrm>
            <a:off x="1740683" y="6279895"/>
            <a:ext cx="9143434" cy="455268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>
                <a:solidFill>
                  <a:srgbClr val="FFFFFF"/>
                </a:solidFill>
              </a:rPr>
              <a:t>Imanol Lama            Unai Pinilla             Juan Mari Diaz</a:t>
            </a:r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B0CC-F613-5A2A-B44E-81AC6819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Flecha&#10;&#10;El contenido generado por IA puede ser incorrecto.">
            <a:extLst>
              <a:ext uri="{FF2B5EF4-FFF2-40B4-BE49-F238E27FC236}">
                <a16:creationId xmlns:a16="http://schemas.microsoft.com/office/drawing/2014/main" id="{BD83FA1D-DFD0-4B42-272E-2DB178A4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CF0632D8-7778-5F59-1EBF-F5876752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378543"/>
            <a:ext cx="5384800" cy="924233"/>
          </a:xfrm>
        </p:spPr>
        <p:txBody>
          <a:bodyPr lIns="91440" tIns="45720" rIns="91440" bIns="45720" rtlCol="0" anchor="b"/>
          <a:lstStyle>
            <a:defPPr>
              <a:defRPr lang="es-ES"/>
            </a:defPPr>
          </a:lstStyle>
          <a:p>
            <a:r>
              <a:rPr lang="es-ES">
                <a:solidFill>
                  <a:srgbClr val="FFFFFF"/>
                </a:solidFill>
              </a:rPr>
              <a:t>Descripción del proyecto</a:t>
            </a:r>
            <a:endParaRPr lang="es-ES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B2360DE-2330-4200-827E-E60F5B986B2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9775" y="2858625"/>
            <a:ext cx="10854847" cy="3338513"/>
          </a:xfrm>
        </p:spPr>
        <p:txBody>
          <a:bodyPr lIns="91440" tIns="45720" rIns="91440" bIns="45720" rtlCol="0" anchor="t"/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ES" b="1">
                <a:latin typeface="Tenorite"/>
              </a:rPr>
              <a:t>Objetivo:</a:t>
            </a:r>
            <a:r>
              <a:rPr lang="es-ES">
                <a:latin typeface="Tenorite"/>
              </a:rPr>
              <a:t> </a:t>
            </a:r>
            <a:r>
              <a:rPr lang="es-ES">
                <a:latin typeface="Tenorite"/>
                <a:ea typeface="+mn-lt"/>
                <a:cs typeface="+mn-lt"/>
              </a:rPr>
              <a:t>Implementar una arquitectura de captación de datos usando Docker </a:t>
            </a:r>
            <a:r>
              <a:rPr lang="es-ES" err="1">
                <a:latin typeface="Tenorite"/>
                <a:ea typeface="+mn-lt"/>
                <a:cs typeface="+mn-lt"/>
              </a:rPr>
              <a:t>Compose</a:t>
            </a:r>
            <a:r>
              <a:rPr lang="es-ES">
                <a:latin typeface="Tenorite"/>
                <a:ea typeface="+mn-lt"/>
                <a:cs typeface="+mn-lt"/>
              </a:rPr>
              <a:t>.</a:t>
            </a:r>
          </a:p>
          <a:p>
            <a:pPr marL="347345" indent="-347345">
              <a:buNone/>
            </a:pPr>
            <a:endParaRPr lang="es-ES" b="1">
              <a:latin typeface="Tenorite"/>
              <a:ea typeface="+mn-lt"/>
              <a:cs typeface="+mn-lt"/>
            </a:endParaRPr>
          </a:p>
          <a:p>
            <a:pPr marL="347345" indent="-347345">
              <a:buNone/>
            </a:pPr>
            <a:r>
              <a:rPr lang="es-ES" b="1">
                <a:latin typeface="Tenorite"/>
                <a:ea typeface="+mn-lt"/>
                <a:cs typeface="+mn-lt"/>
              </a:rPr>
              <a:t>Qué hacemos:</a:t>
            </a:r>
            <a:endParaRPr lang="es-ES">
              <a:latin typeface="Tenorite"/>
            </a:endParaRPr>
          </a:p>
          <a:p>
            <a:pPr lvl="1" indent="-347345">
              <a:buFont typeface="Courier New"/>
              <a:buChar char="o"/>
            </a:pPr>
            <a:r>
              <a:rPr lang="es-ES">
                <a:latin typeface="Tenorite"/>
                <a:ea typeface="+mn-lt"/>
                <a:cs typeface="+mn-lt"/>
              </a:rPr>
              <a:t>Generar datos sintéticos</a:t>
            </a:r>
            <a:endParaRPr lang="es-ES">
              <a:latin typeface="Tenorite"/>
            </a:endParaRPr>
          </a:p>
          <a:p>
            <a:pPr lvl="1" indent="-347345">
              <a:buFont typeface="Courier New"/>
              <a:buChar char="o"/>
            </a:pPr>
            <a:r>
              <a:rPr lang="es-ES">
                <a:latin typeface="Tenorite"/>
              </a:rPr>
              <a:t>Publicarlos en JSON</a:t>
            </a:r>
          </a:p>
          <a:p>
            <a:pPr lvl="1" indent="-347345">
              <a:buFont typeface="Courier New"/>
              <a:buChar char="o"/>
            </a:pPr>
            <a:r>
              <a:rPr lang="es-ES">
                <a:latin typeface="Tenorite"/>
              </a:rPr>
              <a:t>Enviarlos con MQTT</a:t>
            </a:r>
          </a:p>
          <a:p>
            <a:pPr lvl="1" indent="-347345">
              <a:buFont typeface="Courier New"/>
              <a:buChar char="o"/>
            </a:pPr>
            <a:r>
              <a:rPr lang="es-ES">
                <a:latin typeface="Tenorite"/>
                <a:ea typeface="+mn-lt"/>
                <a:cs typeface="+mn-lt"/>
              </a:rPr>
              <a:t>Recogerlos</a:t>
            </a:r>
          </a:p>
          <a:p>
            <a:pPr lvl="1" indent="-347345">
              <a:buFont typeface="Courier New"/>
              <a:buChar char="o"/>
            </a:pPr>
            <a:r>
              <a:rPr lang="es-ES">
                <a:latin typeface="Tenorite"/>
                <a:ea typeface="+mn-lt"/>
                <a:cs typeface="+mn-lt"/>
              </a:rPr>
              <a:t>Almacenarlos en PostgreSQL</a:t>
            </a:r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14AA6AA-F74B-FD18-E1DF-9718D3CE7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79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Flecha&#10;&#10;El contenido generado por IA puede ser incorrecto.">
            <a:extLst>
              <a:ext uri="{FF2B5EF4-FFF2-40B4-BE49-F238E27FC236}">
                <a16:creationId xmlns:a16="http://schemas.microsoft.com/office/drawing/2014/main" id="{29FD3620-DFF6-E903-6486-C4741CF92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3"/>
            <a:ext cx="10515600" cy="1229033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>
                <a:solidFill>
                  <a:srgbClr val="FFFFFF"/>
                </a:solidFill>
              </a:rPr>
              <a:t>Arquitectura del proyecto</a:t>
            </a:r>
          </a:p>
        </p:txBody>
      </p:sp>
      <p:pic>
        <p:nvPicPr>
          <p:cNvPr id="10" name="Imagen 9" descr="Diagrama, Texto&#10;&#10;El contenido generado por IA puede ser incorrecto.">
            <a:extLst>
              <a:ext uri="{FF2B5EF4-FFF2-40B4-BE49-F238E27FC236}">
                <a16:creationId xmlns:a16="http://schemas.microsoft.com/office/drawing/2014/main" id="{6B832ADA-5A9B-4B75-F569-DBBF9D10F7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2539"/>
          <a:stretch>
            <a:fillRect/>
          </a:stretch>
        </p:blipFill>
        <p:spPr>
          <a:xfrm>
            <a:off x="2613533" y="2186860"/>
            <a:ext cx="7261805" cy="4671140"/>
          </a:xfrm>
          <a:prstGeom prst="rect">
            <a:avLst/>
          </a:prstGeom>
          <a:noFill/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es-ES" smtClean="0"/>
              <a:pPr rtl="0">
                <a:spcAft>
                  <a:spcPts val="600"/>
                </a:spcAft>
              </a:pPr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11BE4-45C4-381B-D978-F38AB785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Flecha&#10;&#10;El contenido generado por IA puede ser incorrecto.">
            <a:extLst>
              <a:ext uri="{FF2B5EF4-FFF2-40B4-BE49-F238E27FC236}">
                <a16:creationId xmlns:a16="http://schemas.microsoft.com/office/drawing/2014/main" id="{D6B06920-A927-6359-C325-CBBEA96DD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8B93EA28-3BBB-06BA-7C48-DEEBD706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378543"/>
            <a:ext cx="5384800" cy="924233"/>
          </a:xfrm>
        </p:spPr>
        <p:txBody>
          <a:bodyPr lIns="91440" tIns="45720" rIns="91440" bIns="45720" rtlCol="0" anchor="b"/>
          <a:lstStyle>
            <a:defPPr>
              <a:defRPr lang="es-ES"/>
            </a:defPPr>
          </a:lstStyle>
          <a:p>
            <a:r>
              <a:rPr lang="es-ES">
                <a:solidFill>
                  <a:srgbClr val="FFFFFF"/>
                </a:solidFill>
              </a:rPr>
              <a:t>CARACTERIZACIÓN DEL DATO</a:t>
            </a:r>
            <a:endParaRPr lang="es-ES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CF416225-B374-F4DC-02EB-B78A4B19E2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1781" y="2858625"/>
            <a:ext cx="10835964" cy="3338513"/>
          </a:xfrm>
        </p:spPr>
        <p:txBody>
          <a:bodyPr lIns="91440" tIns="45720" rIns="91440" bIns="45720" rtlCol="0" anchor="t"/>
          <a:lstStyle>
            <a:defPPr>
              <a:defRPr lang="es-ES"/>
            </a:defPPr>
          </a:lstStyle>
          <a:p>
            <a:r>
              <a:rPr lang="es-ES" b="1" dirty="0">
                <a:ea typeface="+mn-lt"/>
                <a:cs typeface="+mn-lt"/>
              </a:rPr>
              <a:t>Tipo de dato:</a:t>
            </a:r>
          </a:p>
          <a:p>
            <a:r>
              <a:rPr lang="es-ES" sz="1600" dirty="0">
                <a:ea typeface="+mn-lt"/>
                <a:cs typeface="+mn-lt"/>
              </a:rPr>
              <a:t>Semiestructurado</a:t>
            </a:r>
            <a:endParaRPr lang="es-ES" sz="1600" dirty="0"/>
          </a:p>
          <a:p>
            <a:r>
              <a:rPr lang="es-ES" b="1" dirty="0">
                <a:ea typeface="+mn-lt"/>
                <a:cs typeface="+mn-lt"/>
              </a:rPr>
              <a:t>Formato de transporte:</a:t>
            </a:r>
            <a:endParaRPr lang="es-ES" dirty="0">
              <a:ea typeface="+mn-lt"/>
              <a:cs typeface="+mn-lt"/>
            </a:endParaRPr>
          </a:p>
          <a:p>
            <a:r>
              <a:rPr lang="es-ES" sz="1600" dirty="0">
                <a:ea typeface="+mn-lt"/>
                <a:cs typeface="+mn-lt"/>
              </a:rPr>
              <a:t>JSON</a:t>
            </a:r>
            <a:endParaRPr lang="es-ES" sz="1600" dirty="0"/>
          </a:p>
          <a:p>
            <a:r>
              <a:rPr lang="es-ES" b="1" dirty="0">
                <a:ea typeface="+mn-lt"/>
                <a:cs typeface="+mn-lt"/>
              </a:rPr>
              <a:t>Frecuencia de envío:</a:t>
            </a:r>
            <a:endParaRPr lang="es-ES" dirty="0">
              <a:ea typeface="+mn-lt"/>
              <a:cs typeface="+mn-lt"/>
            </a:endParaRPr>
          </a:p>
          <a:p>
            <a:r>
              <a:rPr lang="es-ES" sz="1600" dirty="0">
                <a:ea typeface="+mn-lt"/>
                <a:cs typeface="+mn-lt"/>
              </a:rPr>
              <a:t>Cada 5 segundos</a:t>
            </a:r>
            <a:endParaRPr lang="es-ES" sz="1600" dirty="0"/>
          </a:p>
          <a:p>
            <a:r>
              <a:rPr lang="es-ES" b="1" dirty="0">
                <a:ea typeface="+mn-lt"/>
                <a:cs typeface="+mn-lt"/>
              </a:rPr>
              <a:t>Campos enviados:</a:t>
            </a:r>
          </a:p>
          <a:p>
            <a:r>
              <a:rPr lang="es-ES" sz="1600" dirty="0" err="1">
                <a:ea typeface="+mn-lt"/>
                <a:cs typeface="+mn-lt"/>
              </a:rPr>
              <a:t>sensor_id</a:t>
            </a:r>
            <a:r>
              <a:rPr lang="es-ES" sz="1600" dirty="0">
                <a:ea typeface="+mn-lt"/>
                <a:cs typeface="+mn-lt"/>
              </a:rPr>
              <a:t>, </a:t>
            </a:r>
            <a:r>
              <a:rPr lang="es-ES" sz="1600" dirty="0" err="1">
                <a:ea typeface="+mn-lt"/>
                <a:cs typeface="+mn-lt"/>
              </a:rPr>
              <a:t>timestamp</a:t>
            </a:r>
            <a:r>
              <a:rPr lang="es-ES" sz="1600" dirty="0">
                <a:ea typeface="+mn-lt"/>
                <a:cs typeface="+mn-lt"/>
              </a:rPr>
              <a:t>, temperatura, humedad, luminosidad, </a:t>
            </a:r>
            <a:r>
              <a:rPr lang="es-ES" sz="1600" dirty="0" err="1">
                <a:ea typeface="+mn-lt"/>
                <a:cs typeface="+mn-lt"/>
              </a:rPr>
              <a:t>ph</a:t>
            </a:r>
            <a:endParaRPr lang="es-ES" sz="1600" dirty="0">
              <a:ea typeface="+mn-lt"/>
              <a:cs typeface="+mn-lt"/>
            </a:endParaRPr>
          </a:p>
          <a:p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235E3C3-75C6-952B-95DC-884348D5E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904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5A3D-1E4D-B99D-1886-F222CDBE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2113EF19-76CD-8E43-F109-62FAA186CB8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97236" y="2399589"/>
            <a:ext cx="5927184" cy="4320849"/>
          </a:xfrm>
        </p:spPr>
        <p:txBody>
          <a:bodyPr lIns="91440" tIns="45720" rIns="91440" bIns="45720" rtlCol="0" anchor="t"/>
          <a:lstStyle>
            <a:defPPr>
              <a:defRPr lang="es-ES"/>
            </a:defPPr>
          </a:lstStyle>
          <a:p>
            <a:r>
              <a:rPr lang="es-ES" sz="2000" b="1">
                <a:latin typeface="Tenorite"/>
                <a:ea typeface="+mn-lt"/>
                <a:cs typeface="+mn-lt"/>
              </a:rPr>
              <a:t>PostgreSQL 15</a:t>
            </a:r>
          </a:p>
          <a:p>
            <a:r>
              <a:rPr lang="es-ES" b="1">
                <a:latin typeface="Tenorite"/>
                <a:ea typeface="+mn-lt"/>
                <a:cs typeface="+mn-lt"/>
              </a:rPr>
              <a:t>Tipo:</a:t>
            </a:r>
            <a:r>
              <a:rPr lang="es-ES">
                <a:latin typeface="Tenorite"/>
                <a:ea typeface="+mn-lt"/>
                <a:cs typeface="+mn-lt"/>
              </a:rPr>
              <a:t> Base de datos relacional</a:t>
            </a:r>
          </a:p>
          <a:p>
            <a:r>
              <a:rPr lang="es-ES" b="1">
                <a:latin typeface="Tenorite"/>
                <a:ea typeface="+mn-lt"/>
                <a:cs typeface="+mn-lt"/>
              </a:rPr>
              <a:t>Tabla principal:</a:t>
            </a:r>
            <a:r>
              <a:rPr lang="es-ES">
                <a:latin typeface="Tenorite"/>
                <a:ea typeface="+mn-lt"/>
                <a:cs typeface="+mn-lt"/>
              </a:rPr>
              <a:t> mediciones</a:t>
            </a:r>
            <a:endParaRPr lang="es-ES">
              <a:latin typeface="Tenorite"/>
            </a:endParaRPr>
          </a:p>
          <a:p>
            <a:r>
              <a:rPr lang="es-ES" b="1">
                <a:latin typeface="Tenorite"/>
              </a:rPr>
              <a:t>Campos</a:t>
            </a:r>
            <a:r>
              <a:rPr lang="es-ES" b="1">
                <a:latin typeface="Tenorite"/>
                <a:ea typeface="+mn-lt"/>
                <a:cs typeface="+mn-lt"/>
              </a:rPr>
              <a:t> almacenados:</a:t>
            </a:r>
            <a:endParaRPr lang="es-ES">
              <a:latin typeface="Tenorite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600">
                <a:latin typeface="Tenorite"/>
                <a:ea typeface="+mn-lt"/>
                <a:cs typeface="+mn-lt"/>
              </a:rPr>
              <a:t>id (PK)</a:t>
            </a:r>
          </a:p>
          <a:p>
            <a:pPr marL="285750" indent="-285750">
              <a:buFont typeface="Arial"/>
              <a:buChar char="•"/>
            </a:pPr>
            <a:r>
              <a:rPr lang="es-ES" sz="1600" err="1">
                <a:latin typeface="Tenorite"/>
                <a:ea typeface="+mn-lt"/>
                <a:cs typeface="+mn-lt"/>
              </a:rPr>
              <a:t>sensor_id</a:t>
            </a:r>
            <a:endParaRPr lang="es-ES" sz="1600">
              <a:latin typeface="Tenorite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600" err="1">
                <a:latin typeface="Tenorite"/>
                <a:ea typeface="+mn-lt"/>
                <a:cs typeface="+mn-lt"/>
              </a:rPr>
              <a:t>Timestamp</a:t>
            </a:r>
            <a:endParaRPr lang="es-ES" sz="1600">
              <a:latin typeface="Tenorite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600">
                <a:latin typeface="Tenorite"/>
                <a:ea typeface="+mn-lt"/>
                <a:cs typeface="+mn-lt"/>
              </a:rPr>
              <a:t>Temperatura</a:t>
            </a:r>
          </a:p>
          <a:p>
            <a:pPr marL="285750" indent="-285750">
              <a:buFont typeface="Arial"/>
              <a:buChar char="•"/>
            </a:pPr>
            <a:r>
              <a:rPr lang="es-ES" sz="1600">
                <a:latin typeface="Tenorite"/>
                <a:ea typeface="+mn-lt"/>
                <a:cs typeface="+mn-lt"/>
              </a:rPr>
              <a:t>Humedad</a:t>
            </a:r>
          </a:p>
          <a:p>
            <a:pPr marL="285750" indent="-285750">
              <a:buFont typeface="Arial"/>
              <a:buChar char="•"/>
            </a:pPr>
            <a:r>
              <a:rPr lang="es-ES" sz="1600">
                <a:latin typeface="Tenorite"/>
                <a:ea typeface="+mn-lt"/>
                <a:cs typeface="+mn-lt"/>
              </a:rPr>
              <a:t>Luminosidad</a:t>
            </a:r>
          </a:p>
          <a:p>
            <a:pPr marL="285750" indent="-285750">
              <a:buFont typeface="Arial"/>
              <a:buChar char="•"/>
            </a:pPr>
            <a:r>
              <a:rPr lang="es-ES" sz="1600" err="1">
                <a:latin typeface="Tenorite"/>
                <a:ea typeface="+mn-lt"/>
                <a:cs typeface="+mn-lt"/>
              </a:rPr>
              <a:t>ph</a:t>
            </a:r>
            <a:endParaRPr lang="es-ES" sz="1600" err="1">
              <a:latin typeface="Tenorite"/>
            </a:endParaRPr>
          </a:p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999948C-A215-DA65-6EE6-790354319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5</a:t>
            </a:fld>
            <a:endParaRPr lang="es-ES"/>
          </a:p>
        </p:txBody>
      </p:sp>
      <p:pic>
        <p:nvPicPr>
          <p:cNvPr id="3" name="Imagen 2" descr="Un 10 para PostgreSQL – Alburen">
            <a:extLst>
              <a:ext uri="{FF2B5EF4-FFF2-40B4-BE49-F238E27FC236}">
                <a16:creationId xmlns:a16="http://schemas.microsoft.com/office/drawing/2014/main" id="{3624F949-19A3-82CF-3623-3904B0FDF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945" y="3424774"/>
            <a:ext cx="4267197" cy="1966088"/>
          </a:xfrm>
          <a:prstGeom prst="rect">
            <a:avLst/>
          </a:prstGeom>
        </p:spPr>
      </p:pic>
      <p:pic>
        <p:nvPicPr>
          <p:cNvPr id="14" name="Imagen 13" descr="Forma, Flecha&#10;&#10;El contenido generado por IA puede ser incorrecto.">
            <a:extLst>
              <a:ext uri="{FF2B5EF4-FFF2-40B4-BE49-F238E27FC236}">
                <a16:creationId xmlns:a16="http://schemas.microsoft.com/office/drawing/2014/main" id="{3520A61C-5542-2617-B44D-C8B9750359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16" name="Título 5">
            <a:extLst>
              <a:ext uri="{FF2B5EF4-FFF2-40B4-BE49-F238E27FC236}">
                <a16:creationId xmlns:a16="http://schemas.microsoft.com/office/drawing/2014/main" id="{F6FFFC15-8562-A5D2-2D1B-1CBF32E0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378543"/>
            <a:ext cx="5384800" cy="924233"/>
          </a:xfrm>
        </p:spPr>
        <p:txBody>
          <a:bodyPr lIns="91440" tIns="45720" rIns="91440" bIns="45720" rtlCol="0" anchor="b"/>
          <a:lstStyle>
            <a:defPPr>
              <a:defRPr lang="es-ES"/>
            </a:defPPr>
          </a:lstStyle>
          <a:p>
            <a:r>
              <a:rPr lang="es-ES">
                <a:solidFill>
                  <a:srgbClr val="FFFFFF"/>
                </a:solidFill>
              </a:rPr>
              <a:t>Base de datos</a:t>
            </a:r>
          </a:p>
        </p:txBody>
      </p:sp>
    </p:spTree>
    <p:extLst>
      <p:ext uri="{BB962C8B-B14F-4D97-AF65-F5344CB8AC3E}">
        <p14:creationId xmlns:p14="http://schemas.microsoft.com/office/powerpoint/2010/main" val="4183586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5A3D-1E4D-B99D-1886-F222CDBE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999948C-A215-DA65-6EE6-790354319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6</a:t>
            </a:fld>
            <a:endParaRPr lang="es-ES"/>
          </a:p>
        </p:txBody>
      </p:sp>
      <p:pic>
        <p:nvPicPr>
          <p:cNvPr id="14" name="Imagen 13" descr="Forma, Flecha&#10;&#10;El contenido generado por IA puede ser incorrecto.">
            <a:extLst>
              <a:ext uri="{FF2B5EF4-FFF2-40B4-BE49-F238E27FC236}">
                <a16:creationId xmlns:a16="http://schemas.microsoft.com/office/drawing/2014/main" id="{3520A61C-5542-2617-B44D-C8B975035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16" name="Título 5">
            <a:extLst>
              <a:ext uri="{FF2B5EF4-FFF2-40B4-BE49-F238E27FC236}">
                <a16:creationId xmlns:a16="http://schemas.microsoft.com/office/drawing/2014/main" id="{F6FFFC15-8562-A5D2-2D1B-1CBF32E0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378543"/>
            <a:ext cx="5384800" cy="924233"/>
          </a:xfrm>
        </p:spPr>
        <p:txBody>
          <a:bodyPr lIns="91440" tIns="45720" rIns="91440" bIns="45720" rtlCol="0" anchor="b"/>
          <a:lstStyle>
            <a:defPPr>
              <a:defRPr lang="es-ES"/>
            </a:defPPr>
          </a:lstStyle>
          <a:p>
            <a:r>
              <a:rPr lang="es-ES">
                <a:solidFill>
                  <a:srgbClr val="FFFFFF"/>
                </a:solidFill>
              </a:rPr>
              <a:t>protocolo</a:t>
            </a:r>
            <a:endParaRPr lang="es-ES"/>
          </a:p>
        </p:txBody>
      </p:sp>
      <p:pic>
        <p:nvPicPr>
          <p:cNvPr id="4" name="Imagen 3" descr="Introduction to MQTT: The protocol for IoT &amp; buildings">
            <a:extLst>
              <a:ext uri="{FF2B5EF4-FFF2-40B4-BE49-F238E27FC236}">
                <a16:creationId xmlns:a16="http://schemas.microsoft.com/office/drawing/2014/main" id="{F9F3DD4C-AB75-8C22-80D1-8E06BAFD0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243" y="4503021"/>
            <a:ext cx="2449417" cy="2029185"/>
          </a:xfrm>
          <a:prstGeom prst="rect">
            <a:avLst/>
          </a:prstGeom>
        </p:spPr>
      </p:pic>
      <p:sp>
        <p:nvSpPr>
          <p:cNvPr id="15" name="Marcador de contenido 11">
            <a:extLst>
              <a:ext uri="{FF2B5EF4-FFF2-40B4-BE49-F238E27FC236}">
                <a16:creationId xmlns:a16="http://schemas.microsoft.com/office/drawing/2014/main" id="{22F2E98A-FEB4-BE10-9D19-6E024EBA823F}"/>
              </a:ext>
            </a:extLst>
          </p:cNvPr>
          <p:cNvSpPr txBox="1">
            <a:spLocks/>
          </p:cNvSpPr>
          <p:nvPr/>
        </p:nvSpPr>
        <p:spPr>
          <a:xfrm>
            <a:off x="697236" y="2372047"/>
            <a:ext cx="6845256" cy="4458560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b="1" dirty="0">
                <a:latin typeface="Tenorite"/>
                <a:ea typeface="+mn-lt"/>
                <a:cs typeface="+mn-lt"/>
              </a:rPr>
              <a:t>MQTT</a:t>
            </a:r>
          </a:p>
          <a:p>
            <a:r>
              <a:rPr lang="es-ES" b="1" dirty="0">
                <a:latin typeface="Tenorite"/>
                <a:ea typeface="+mn-lt"/>
                <a:cs typeface="+mn-lt"/>
              </a:rPr>
              <a:t>Tipo:</a:t>
            </a:r>
            <a:r>
              <a:rPr lang="es-ES" dirty="0">
                <a:latin typeface="Tenorite"/>
                <a:ea typeface="+mn-lt"/>
                <a:cs typeface="+mn-lt"/>
              </a:rPr>
              <a:t> Protocolo ligero de mensajería</a:t>
            </a:r>
          </a:p>
          <a:p>
            <a:r>
              <a:rPr lang="es-ES" b="1" dirty="0">
                <a:latin typeface="Tenorite"/>
                <a:ea typeface="+mn-lt"/>
                <a:cs typeface="+mn-lt"/>
              </a:rPr>
              <a:t>Modelo:</a:t>
            </a:r>
            <a:r>
              <a:rPr lang="es-ES" dirty="0">
                <a:latin typeface="Tenorite"/>
                <a:ea typeface="+mn-lt"/>
                <a:cs typeface="+mn-lt"/>
              </a:rPr>
              <a:t> </a:t>
            </a:r>
            <a:r>
              <a:rPr lang="es-ES" dirty="0" err="1">
                <a:latin typeface="Tenorite"/>
                <a:ea typeface="+mn-lt"/>
                <a:cs typeface="+mn-lt"/>
              </a:rPr>
              <a:t>Publish</a:t>
            </a:r>
            <a:r>
              <a:rPr lang="es-ES" dirty="0">
                <a:latin typeface="Tenorite"/>
                <a:ea typeface="+mn-lt"/>
                <a:cs typeface="+mn-lt"/>
              </a:rPr>
              <a:t> / Subscribe</a:t>
            </a:r>
          </a:p>
          <a:p>
            <a:r>
              <a:rPr lang="es-ES" b="1" dirty="0">
                <a:latin typeface="Tenorite"/>
                <a:ea typeface="+mn-lt"/>
                <a:cs typeface="+mn-lt"/>
              </a:rPr>
              <a:t>Rol en el sistema:</a:t>
            </a:r>
            <a:endParaRPr lang="es-ES" dirty="0">
              <a:latin typeface="Tenorite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600" dirty="0">
                <a:latin typeface="Tenorite"/>
                <a:ea typeface="+mn-lt"/>
                <a:cs typeface="+mn-lt"/>
              </a:rPr>
              <a:t>El sensor publica datos en un </a:t>
            </a:r>
            <a:r>
              <a:rPr lang="es-ES" sz="1600" dirty="0" err="1">
                <a:latin typeface="Tenorite"/>
                <a:ea typeface="+mn-lt"/>
                <a:cs typeface="+mn-lt"/>
              </a:rPr>
              <a:t>topic</a:t>
            </a:r>
            <a:endParaRPr lang="es-ES" sz="1600" dirty="0">
              <a:latin typeface="Tenorite"/>
            </a:endParaRPr>
          </a:p>
          <a:p>
            <a:pPr marL="285750" indent="-285750">
              <a:buFont typeface="Arial"/>
              <a:buChar char="•"/>
            </a:pPr>
            <a:r>
              <a:rPr lang="es-ES" sz="1600" dirty="0">
                <a:latin typeface="Tenorite"/>
                <a:ea typeface="+mn-lt"/>
                <a:cs typeface="+mn-lt"/>
              </a:rPr>
              <a:t>El </a:t>
            </a:r>
            <a:r>
              <a:rPr lang="es-ES" sz="1600" dirty="0" err="1">
                <a:latin typeface="Tenorite"/>
                <a:ea typeface="+mn-lt"/>
                <a:cs typeface="+mn-lt"/>
              </a:rPr>
              <a:t>broker</a:t>
            </a:r>
            <a:r>
              <a:rPr lang="es-ES" sz="1600" dirty="0">
                <a:latin typeface="Tenorite"/>
                <a:ea typeface="+mn-lt"/>
                <a:cs typeface="+mn-lt"/>
              </a:rPr>
              <a:t> distribuye los mensajes</a:t>
            </a:r>
            <a:endParaRPr lang="es-ES" sz="1600" dirty="0">
              <a:latin typeface="Tenorite"/>
            </a:endParaRPr>
          </a:p>
          <a:p>
            <a:pPr marL="285750" indent="-285750">
              <a:buFont typeface="Arial"/>
              <a:buChar char="•"/>
            </a:pPr>
            <a:r>
              <a:rPr lang="es-ES" sz="1600" dirty="0">
                <a:latin typeface="Tenorite"/>
                <a:ea typeface="+mn-lt"/>
                <a:cs typeface="+mn-lt"/>
              </a:rPr>
              <a:t>El consumidor se suscribe y procesa</a:t>
            </a:r>
            <a:endParaRPr lang="es-ES" sz="1600" dirty="0">
              <a:latin typeface="Tenorite"/>
            </a:endParaRPr>
          </a:p>
          <a:p>
            <a:r>
              <a:rPr lang="es-ES" b="1" dirty="0" err="1">
                <a:latin typeface="Tenorite"/>
                <a:ea typeface="+mn-lt"/>
                <a:cs typeface="+mn-lt"/>
              </a:rPr>
              <a:t>Topic</a:t>
            </a:r>
            <a:r>
              <a:rPr lang="es-ES" b="1" dirty="0">
                <a:latin typeface="Tenorite"/>
                <a:ea typeface="+mn-lt"/>
                <a:cs typeface="+mn-lt"/>
              </a:rPr>
              <a:t> utilizado:</a:t>
            </a:r>
            <a:endParaRPr lang="es-ES" dirty="0">
              <a:latin typeface="Tenorite"/>
              <a:ea typeface="+mn-lt"/>
              <a:cs typeface="+mn-lt"/>
            </a:endParaRPr>
          </a:p>
          <a:p>
            <a:r>
              <a:rPr lang="es-ES" sz="1700" dirty="0">
                <a:latin typeface="Tenorite"/>
                <a:ea typeface="+mn-lt"/>
                <a:cs typeface="+mn-lt"/>
              </a:rPr>
              <a:t>invernadero/#</a:t>
            </a:r>
            <a:endParaRPr lang="es-ES" sz="1700" dirty="0">
              <a:latin typeface="Tenorite"/>
            </a:endParaRPr>
          </a:p>
          <a:p>
            <a:r>
              <a:rPr lang="es-ES" b="1" dirty="0">
                <a:latin typeface="Tenorite"/>
                <a:ea typeface="+mn-lt"/>
                <a:cs typeface="+mn-lt"/>
              </a:rPr>
              <a:t>Frecuencia:</a:t>
            </a:r>
            <a:endParaRPr lang="es-ES" dirty="0">
              <a:latin typeface="Tenorite"/>
              <a:ea typeface="+mn-lt"/>
              <a:cs typeface="+mn-lt"/>
            </a:endParaRPr>
          </a:p>
          <a:p>
            <a:r>
              <a:rPr lang="es-ES" sz="1600" dirty="0">
                <a:latin typeface="Tenorite"/>
                <a:ea typeface="+mn-lt"/>
                <a:cs typeface="+mn-lt"/>
              </a:rPr>
              <a:t>Cada 5 segundos</a:t>
            </a:r>
            <a:endParaRPr lang="es-ES" sz="1600" dirty="0">
              <a:latin typeface="Tenorite"/>
            </a:endParaRPr>
          </a:p>
          <a:p>
            <a:endParaRPr lang="es-ES" dirty="0">
              <a:latin typeface="Tenorite"/>
            </a:endParaRPr>
          </a:p>
          <a:p>
            <a:endParaRPr lang="es-ES" dirty="0"/>
          </a:p>
        </p:txBody>
      </p:sp>
      <p:pic>
        <p:nvPicPr>
          <p:cNvPr id="17" name="Imagen 16" descr="Guía de introducción a MQTT con ESP8266 y Raspberry Pi">
            <a:extLst>
              <a:ext uri="{FF2B5EF4-FFF2-40B4-BE49-F238E27FC236}">
                <a16:creationId xmlns:a16="http://schemas.microsoft.com/office/drawing/2014/main" id="{B2D8A41A-DF5C-E5DE-B1A7-09FE21910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111" y="2773497"/>
            <a:ext cx="1760863" cy="1724140"/>
          </a:xfrm>
          <a:prstGeom prst="rect">
            <a:avLst/>
          </a:prstGeom>
        </p:spPr>
      </p:pic>
      <p:sp>
        <p:nvSpPr>
          <p:cNvPr id="18" name="Marcador de contenido 11">
            <a:extLst>
              <a:ext uri="{FF2B5EF4-FFF2-40B4-BE49-F238E27FC236}">
                <a16:creationId xmlns:a16="http://schemas.microsoft.com/office/drawing/2014/main" id="{C9B2A34E-0B35-66BD-8093-532DC3F840B6}"/>
              </a:ext>
            </a:extLst>
          </p:cNvPr>
          <p:cNvSpPr txBox="1">
            <a:spLocks/>
          </p:cNvSpPr>
          <p:nvPr/>
        </p:nvSpPr>
        <p:spPr>
          <a:xfrm>
            <a:off x="7913284" y="2399588"/>
            <a:ext cx="1382726" cy="57511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err="1">
                <a:latin typeface="Tenorite"/>
                <a:ea typeface="+mn-lt"/>
                <a:cs typeface="+mn-lt"/>
              </a:rPr>
              <a:t>Broker</a:t>
            </a:r>
            <a:r>
              <a:rPr lang="es-ES" b="1">
                <a:latin typeface="Tenorite"/>
                <a:ea typeface="+mn-lt"/>
                <a:cs typeface="+mn-lt"/>
              </a:rPr>
              <a:t>:</a:t>
            </a:r>
          </a:p>
          <a:p>
            <a:endParaRPr lang="es-ES">
              <a:latin typeface="Tenorite"/>
            </a:endParaRPr>
          </a:p>
          <a:p>
            <a:endParaRPr lang="es-ES">
              <a:latin typeface="Tenorite "/>
            </a:endParaRPr>
          </a:p>
        </p:txBody>
      </p:sp>
    </p:spTree>
    <p:extLst>
      <p:ext uri="{BB962C8B-B14F-4D97-AF65-F5344CB8AC3E}">
        <p14:creationId xmlns:p14="http://schemas.microsoft.com/office/powerpoint/2010/main" val="158177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4507C-C2C5-CBFF-EC63-76D7AB02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Flecha&#10;&#10;El contenido generado por IA puede ser incorrecto.">
            <a:extLst>
              <a:ext uri="{FF2B5EF4-FFF2-40B4-BE49-F238E27FC236}">
                <a16:creationId xmlns:a16="http://schemas.microsoft.com/office/drawing/2014/main" id="{71BB0EBE-B761-64F9-6140-10AECEC940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71475A2-00B6-6564-7AFC-CB1B5FD0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344"/>
            <a:ext cx="10515600" cy="838864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>
                <a:solidFill>
                  <a:srgbClr val="FFFFFF"/>
                </a:solidFill>
              </a:rPr>
              <a:t>Productor (Sensor)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87AF6F-84D6-5086-00D6-9B3AE8245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es-ES" smtClean="0"/>
              <a:pPr rtl="0">
                <a:spcAft>
                  <a:spcPts val="600"/>
                </a:spcAft>
              </a:pPr>
              <a:t>7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1418C4-720F-7E7E-921A-69043DC0C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683776"/>
            <a:ext cx="6334664" cy="48714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9C8069C-4B31-1255-EF23-0EAEAF9DD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193" y="1683776"/>
            <a:ext cx="4728477" cy="48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02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23CF31-2192-9933-E044-3B18968B8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8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F0B76F-E275-8B7E-985A-0162B8AE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1" t="39" r="2817" b="-41"/>
          <a:stretch>
            <a:fillRect/>
          </a:stretch>
        </p:blipFill>
        <p:spPr>
          <a:xfrm>
            <a:off x="1518173" y="2456636"/>
            <a:ext cx="9160876" cy="4259131"/>
          </a:xfrm>
          <a:prstGeom prst="rect">
            <a:avLst/>
          </a:prstGeom>
          <a:noFill/>
        </p:spPr>
      </p:pic>
      <p:pic>
        <p:nvPicPr>
          <p:cNvPr id="8" name="Imagen 7" descr="Forma, Flecha&#10;&#10;El contenido generado por IA puede ser incorrecto.">
            <a:extLst>
              <a:ext uri="{FF2B5EF4-FFF2-40B4-BE49-F238E27FC236}">
                <a16:creationId xmlns:a16="http://schemas.microsoft.com/office/drawing/2014/main" id="{569706F4-8CEB-945F-9851-A81779697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2CA93C1-EEC1-EA6A-2A47-0D401A50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344"/>
            <a:ext cx="10515600" cy="838864"/>
          </a:xfrm>
          <a:ln>
            <a:noFill/>
          </a:ln>
        </p:spPr>
        <p:txBody>
          <a:bodyPr lIns="91440" tIns="45720" rIns="91440" bIns="45720" rtlCol="0" anchor="b">
            <a:normAutofit/>
          </a:bodyPr>
          <a:lstStyle>
            <a:defPPr>
              <a:defRPr lang="es-ES"/>
            </a:defPPr>
          </a:lstStyle>
          <a:p>
            <a:r>
              <a:rPr lang="es-ES" err="1">
                <a:solidFill>
                  <a:srgbClr val="FFFFFF"/>
                </a:solidFill>
              </a:rPr>
              <a:t>dOCKERFILE</a:t>
            </a:r>
            <a:endParaRPr lang="es-ES" err="1"/>
          </a:p>
        </p:txBody>
      </p:sp>
    </p:spTree>
    <p:extLst>
      <p:ext uri="{BB962C8B-B14F-4D97-AF65-F5344CB8AC3E}">
        <p14:creationId xmlns:p14="http://schemas.microsoft.com/office/powerpoint/2010/main" val="331042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C841-2CE0-52EB-FC15-66F8152A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objeto, luz, alambre, grande&#10;&#10;El contenido generado por IA puede ser incorrecto.">
            <a:extLst>
              <a:ext uri="{FF2B5EF4-FFF2-40B4-BE49-F238E27FC236}">
                <a16:creationId xmlns:a16="http://schemas.microsoft.com/office/drawing/2014/main" id="{C8B364D3-A56D-5C59-A41D-24DFD18BEC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" t="-185" r="53580" b="185"/>
          <a:stretch>
            <a:fillRect/>
          </a:stretch>
        </p:blipFill>
        <p:spPr>
          <a:xfrm>
            <a:off x="-1" y="0"/>
            <a:ext cx="4762511" cy="6858007"/>
          </a:xfrm>
          <a:prstGeom prst="rect">
            <a:avLst/>
          </a:prstGeom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BA05A66-BE12-B387-8844-D35000E83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9</a:t>
            </a:fld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FC3261-829D-BF64-0A42-87949FFF58C6}"/>
              </a:ext>
            </a:extLst>
          </p:cNvPr>
          <p:cNvSpPr/>
          <p:nvPr/>
        </p:nvSpPr>
        <p:spPr>
          <a:xfrm>
            <a:off x="1207569" y="2991691"/>
            <a:ext cx="2355007" cy="8781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Título 25">
            <a:extLst>
              <a:ext uri="{FF2B5EF4-FFF2-40B4-BE49-F238E27FC236}">
                <a16:creationId xmlns:a16="http://schemas.microsoft.com/office/drawing/2014/main" id="{8DF68D07-8218-F06F-A953-92A6AE3B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11" y="2714453"/>
            <a:ext cx="3401992" cy="1421544"/>
          </a:xfrm>
          <a:noFill/>
          <a:ln>
            <a:solidFill>
              <a:schemeClr val="bg1"/>
            </a:solidFill>
          </a:ln>
        </p:spPr>
        <p:txBody>
          <a:bodyPr lIns="91440" tIns="45720" rIns="91440" bIns="45720" rtlCol="0" anchor="ctr"/>
          <a:lstStyle>
            <a:defPPr>
              <a:defRPr lang="es-ES"/>
            </a:defPPr>
          </a:lstStyle>
          <a:p>
            <a:r>
              <a:rPr lang="es-ES" dirty="0">
                <a:solidFill>
                  <a:srgbClr val="012544"/>
                </a:solidFill>
              </a:rPr>
              <a:t>CEREBRO</a:t>
            </a:r>
            <a:br>
              <a:rPr lang="es-ES" dirty="0"/>
            </a:br>
            <a:r>
              <a:rPr lang="es-ES" dirty="0">
                <a:solidFill>
                  <a:srgbClr val="012544"/>
                </a:solidFill>
              </a:rPr>
              <a:t>(CONSUMIDOR)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8A8DA9-0D9F-C42F-84D6-CCD5E303B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942" y="2398705"/>
            <a:ext cx="6966920" cy="444121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6898CAC-9C97-F959-A849-50029307F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942" y="0"/>
            <a:ext cx="5553850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42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723D-6CDF-4CF5-77EC-72FF50BAA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Flecha&#10;&#10;El contenido generado por IA puede ser incorrecto.">
            <a:extLst>
              <a:ext uri="{FF2B5EF4-FFF2-40B4-BE49-F238E27FC236}">
                <a16:creationId xmlns:a16="http://schemas.microsoft.com/office/drawing/2014/main" id="{B57F490A-7811-6846-546C-EC5D0E008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61A219-354A-BA69-076B-78A3C32C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344"/>
            <a:ext cx="10515600" cy="838864"/>
          </a:xfrm>
        </p:spPr>
        <p:txBody>
          <a:bodyPr lIns="91440" tIns="45720" rIns="91440" bIns="45720" rtlCol="0" anchor="b">
            <a:normAutofit/>
          </a:bodyPr>
          <a:lstStyle>
            <a:defPPr>
              <a:defRPr lang="es-ES"/>
            </a:defPPr>
          </a:lstStyle>
          <a:p>
            <a:r>
              <a:rPr lang="es-ES" dirty="0">
                <a:solidFill>
                  <a:srgbClr val="FFFFFF"/>
                </a:solidFill>
              </a:rPr>
              <a:t>Docker </a:t>
            </a:r>
            <a:r>
              <a:rPr lang="es-ES" dirty="0" err="1">
                <a:solidFill>
                  <a:srgbClr val="FFFFFF"/>
                </a:solidFill>
              </a:rPr>
              <a:t>compose</a:t>
            </a:r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BC99E9-4D3D-2634-8EDF-2BE0BCAB1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es-ES" smtClean="0"/>
              <a:pPr rtl="0">
                <a:spcAft>
                  <a:spcPts val="600"/>
                </a:spcAft>
              </a:pPr>
              <a:t>10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F0CA91-E290-F0C2-4270-7A26A7CA1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94764"/>
            <a:ext cx="4550486" cy="47252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AD642D0-3AD8-9EF3-D8EB-0FF76B5AA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536" y="2186861"/>
            <a:ext cx="4248743" cy="4733158"/>
          </a:xfrm>
          <a:prstGeom prst="rect">
            <a:avLst/>
          </a:prstGeom>
        </p:spPr>
      </p:pic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8263272-25B7-0AAD-EA49-6FA03F076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9279" y="2186861"/>
            <a:ext cx="3000034" cy="467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0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B889-2BD6-1E20-46F7-047A654A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EBD835E-C74E-381D-8D5E-92B3014D83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0375" y="3430125"/>
            <a:ext cx="3548063" cy="1636713"/>
          </a:xfrm>
        </p:spPr>
        <p:txBody>
          <a:bodyPr lIns="91440" tIns="45720" rIns="91440" bIns="45720" rtlCol="0" anchor="t"/>
          <a:lstStyle>
            <a:defPPr>
              <a:defRPr lang="es-ES"/>
            </a:defPPr>
          </a:lstStyle>
          <a:p>
            <a:pPr marL="347345" indent="-347345">
              <a:buNone/>
            </a:pPr>
            <a:r>
              <a:rPr lang="es-ES" b="1">
                <a:ea typeface="+mn-lt"/>
                <a:cs typeface="+mn-lt"/>
              </a:rPr>
              <a:t>¿Por qué MQTT?</a:t>
            </a:r>
            <a:endParaRPr lang="es-ES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Protocolo ligero</a:t>
            </a:r>
            <a:endParaRPr lang="es-ES" sz="1600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Modelo publicador/suscriptor</a:t>
            </a:r>
            <a:endParaRPr lang="es-ES" sz="1600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Estándar IoT</a:t>
            </a:r>
            <a:endParaRPr lang="es-ES">
              <a:ea typeface="+mn-lt"/>
              <a:cs typeface="+mn-lt"/>
            </a:endParaRPr>
          </a:p>
          <a:p>
            <a:pPr marL="0" indent="0">
              <a:buNone/>
            </a:pPr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BE8E08C-898C-E514-58C8-0516AA79B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11</a:t>
            </a:fld>
            <a:endParaRPr lang="es-ES"/>
          </a:p>
        </p:txBody>
      </p:sp>
      <p:pic>
        <p:nvPicPr>
          <p:cNvPr id="14" name="Imagen 13" descr="Forma, Flecha&#10;&#10;El contenido generado por IA puede ser incorrecto.">
            <a:extLst>
              <a:ext uri="{FF2B5EF4-FFF2-40B4-BE49-F238E27FC236}">
                <a16:creationId xmlns:a16="http://schemas.microsoft.com/office/drawing/2014/main" id="{7D8E7454-1CFE-B031-56EF-A9281CBEB8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0" t="12789" r="1220" b="60709"/>
          <a:stretch>
            <a:fillRect/>
          </a:stretch>
        </p:blipFill>
        <p:spPr>
          <a:xfrm>
            <a:off x="0" y="0"/>
            <a:ext cx="12195640" cy="2186860"/>
          </a:xfrm>
          <a:prstGeom prst="rect">
            <a:avLst/>
          </a:prstGeom>
        </p:spPr>
      </p:pic>
      <p:sp>
        <p:nvSpPr>
          <p:cNvPr id="16" name="Título 5">
            <a:extLst>
              <a:ext uri="{FF2B5EF4-FFF2-40B4-BE49-F238E27FC236}">
                <a16:creationId xmlns:a16="http://schemas.microsoft.com/office/drawing/2014/main" id="{B4792878-3C64-0C5A-3C1D-501DE76F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378543"/>
            <a:ext cx="5384800" cy="924233"/>
          </a:xfrm>
        </p:spPr>
        <p:txBody>
          <a:bodyPr lIns="91440" tIns="45720" rIns="91440" bIns="45720" rtlCol="0" anchor="b"/>
          <a:lstStyle>
            <a:defPPr>
              <a:defRPr lang="es-ES"/>
            </a:defPPr>
          </a:lstStyle>
          <a:p>
            <a:r>
              <a:rPr lang="es-ES">
                <a:solidFill>
                  <a:srgbClr val="FFFFFF"/>
                </a:solidFill>
              </a:rPr>
              <a:t>DECISIONES</a:t>
            </a:r>
            <a:endParaRPr lang="es-ES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0EEAABBF-6501-FBCB-7A2E-404A32410366}"/>
              </a:ext>
            </a:extLst>
          </p:cNvPr>
          <p:cNvSpPr txBox="1">
            <a:spLocks/>
          </p:cNvSpPr>
          <p:nvPr/>
        </p:nvSpPr>
        <p:spPr>
          <a:xfrm>
            <a:off x="4329575" y="3430125"/>
            <a:ext cx="3548063" cy="1636713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es-ES"/>
            </a:defPPr>
            <a:lvl1pPr marL="347472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lang="es-ES" sz="16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lang="es-ES"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lang="es-ES" sz="12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lang="es-ES" sz="12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>
              <a:buFont typeface="+mj-lt"/>
              <a:buNone/>
            </a:pPr>
            <a:r>
              <a:rPr lang="es-ES" b="1">
                <a:ea typeface="+mn-lt"/>
                <a:cs typeface="+mn-lt"/>
              </a:rPr>
              <a:t>¿Por qué Docker </a:t>
            </a:r>
            <a:r>
              <a:rPr lang="es-ES" b="1" err="1">
                <a:ea typeface="+mn-lt"/>
                <a:cs typeface="+mn-lt"/>
              </a:rPr>
              <a:t>Compose</a:t>
            </a:r>
            <a:r>
              <a:rPr lang="es-ES" b="1">
                <a:ea typeface="+mn-lt"/>
                <a:cs typeface="+mn-lt"/>
              </a:rPr>
              <a:t>?</a:t>
            </a:r>
            <a:endParaRPr lang="es-ES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Reproducible y portable</a:t>
            </a:r>
            <a:endParaRPr lang="es-ES" sz="1600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Entorno aislado</a:t>
            </a:r>
            <a:endParaRPr lang="es-ES" sz="1600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Fácil despliegue</a:t>
            </a:r>
            <a:endParaRPr lang="es-ES">
              <a:ea typeface="+mn-lt"/>
              <a:cs typeface="+mn-lt"/>
            </a:endParaRPr>
          </a:p>
          <a:p>
            <a:pPr marL="0" indent="0">
              <a:buFont typeface="+mj-lt"/>
              <a:buNone/>
            </a:pPr>
            <a:endParaRPr lang="es-ES"/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399D53F4-42A7-4D80-09B8-6DC5EBBC59FB}"/>
              </a:ext>
            </a:extLst>
          </p:cNvPr>
          <p:cNvSpPr txBox="1">
            <a:spLocks/>
          </p:cNvSpPr>
          <p:nvPr/>
        </p:nvSpPr>
        <p:spPr>
          <a:xfrm>
            <a:off x="8215775" y="3430125"/>
            <a:ext cx="3548063" cy="1827213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es-ES"/>
            </a:defPPr>
            <a:lvl1pPr marL="347472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lang="es-ES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lang="es-ES" sz="16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lang="es-ES" sz="14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lang="es-ES" sz="12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lang="es-ES" sz="12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345" indent="-347345">
              <a:buNone/>
            </a:pPr>
            <a:r>
              <a:rPr lang="es-ES" b="1">
                <a:ea typeface="+mn-lt"/>
                <a:cs typeface="+mn-lt"/>
              </a:rPr>
              <a:t>¿Por qué PostgreSQL?</a:t>
            </a:r>
            <a:endParaRPr lang="es-ES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Datos estructurados</a:t>
            </a:r>
            <a:endParaRPr lang="es-ES" sz="1600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Integridad</a:t>
            </a:r>
            <a:endParaRPr lang="es-ES" sz="1600"/>
          </a:p>
          <a:p>
            <a:pPr marL="347345" indent="-347345"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Consultas SQL</a:t>
            </a:r>
            <a:endParaRPr lang="es-ES" sz="1600"/>
          </a:p>
          <a:p>
            <a:pPr marL="0" indent="0">
              <a:buFont typeface="+mj-lt"/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341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ACBCD3B-EAB4-87E8-85AB-C9DDB716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961" y="2366898"/>
            <a:ext cx="4442603" cy="212482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demo</a:t>
            </a:r>
          </a:p>
        </p:txBody>
      </p:sp>
      <p:pic>
        <p:nvPicPr>
          <p:cNvPr id="8" name="Imagen 7" descr="Imagen que contiene objeto, luz, alambre, grande&#10;&#10;El contenido generado por IA puede ser incorrecto.">
            <a:extLst>
              <a:ext uri="{FF2B5EF4-FFF2-40B4-BE49-F238E27FC236}">
                <a16:creationId xmlns:a16="http://schemas.microsoft.com/office/drawing/2014/main" id="{A9255643-46E6-5DF2-4207-54459450D0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30"/>
          <a:stretch>
            <a:fillRect/>
          </a:stretch>
        </p:blipFill>
        <p:spPr>
          <a:xfrm rot="10800000">
            <a:off x="6654799" y="0"/>
            <a:ext cx="5531258" cy="685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5108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98630235.tgt.Office_72342546_TF16411175_Win32_OJ112380586.potx" id="{7D32358D-29A7-4C3D-BCC5-D00F529875AC}" vid="{51CE528C-CD7A-413B-80E0-336D11C9D58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1e426f-481b-4da6-8916-bf46cb0e90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9074D2F630134E85C995C6F8514229" ma:contentTypeVersion="11" ma:contentTypeDescription="Create a new document." ma:contentTypeScope="" ma:versionID="d8cd9ac2c2a344e7395e908d88e4e8a7">
  <xsd:schema xmlns:xsd="http://www.w3.org/2001/XMLSchema" xmlns:xs="http://www.w3.org/2001/XMLSchema" xmlns:p="http://schemas.microsoft.com/office/2006/metadata/properties" xmlns:ns3="2b1e426f-481b-4da6-8916-bf46cb0e90c2" targetNamespace="http://schemas.microsoft.com/office/2006/metadata/properties" ma:root="true" ma:fieldsID="43defc0437310515d54d661f64201e92" ns3:_="">
    <xsd:import namespace="2b1e426f-481b-4da6-8916-bf46cb0e90c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1e426f-481b-4da6-8916-bf46cb0e90c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19A644-6410-4EC7-894C-877E70305DFF}">
  <ds:schemaRefs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2b1e426f-481b-4da6-8916-bf46cb0e90c2"/>
  </ds:schemaRefs>
</ds:datastoreItem>
</file>

<file path=customXml/itemProps3.xml><?xml version="1.0" encoding="utf-8"?>
<ds:datastoreItem xmlns:ds="http://schemas.openxmlformats.org/officeDocument/2006/customXml" ds:itemID="{F4FB67EE-BAED-4E16-AED5-7A20EE944C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1e426f-481b-4da6-8916-bf46cb0e90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{284AB7B1-4E72-4D5F-8D2E-891841E362AF}tf16411175_win32</Template>
  <TotalTime>896</TotalTime>
  <Words>456</Words>
  <Application>Microsoft Office PowerPoint</Application>
  <PresentationFormat>Panorámica</PresentationFormat>
  <Paragraphs>91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Tenorite</vt:lpstr>
      <vt:lpstr>Tenorite </vt:lpstr>
      <vt:lpstr>Tenorite Bold</vt:lpstr>
      <vt:lpstr>Personalizar</vt:lpstr>
      <vt:lpstr>RETO DE CAPTACIÓN</vt:lpstr>
      <vt:lpstr>Descripción del proyecto</vt:lpstr>
      <vt:lpstr>Arquitectura del proyecto</vt:lpstr>
      <vt:lpstr>CARACTERIZACIÓN DEL DATO</vt:lpstr>
      <vt:lpstr>Base de datos</vt:lpstr>
      <vt:lpstr>protocolo</vt:lpstr>
      <vt:lpstr>Productor (Sensor)</vt:lpstr>
      <vt:lpstr>dOCKERFILE</vt:lpstr>
      <vt:lpstr>CEREBRO (CONSUMIDOR)</vt:lpstr>
      <vt:lpstr>Docker compose</vt:lpstr>
      <vt:lpstr>DECISIONES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María Díaz Vallejo</dc:creator>
  <cp:lastModifiedBy>Imanol Lama González</cp:lastModifiedBy>
  <cp:revision>3</cp:revision>
  <dcterms:created xsi:type="dcterms:W3CDTF">2026-02-18T19:02:34Z</dcterms:created>
  <dcterms:modified xsi:type="dcterms:W3CDTF">2026-02-19T10:36:21Z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0x010100B09074D2F630134E85C995C6F8514229</vt:lpwstr>
  </property>
</Properties>
</file>